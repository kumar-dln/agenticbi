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6400">
                <a:solidFill>
                  <a:srgbClr val="00B4D8"/>
                </a:solidFill>
                <a:latin typeface="Arial"/>
              </a:defRPr>
            </a:pPr>
            <a:r>
              <a:t>AgenticBI</a:t>
            </a:r>
          </a:p>
          <a:p>
            <a:pPr>
              <a:spcBef>
                <a:spcPts val="2000"/>
              </a:spcBef>
              <a:defRPr sz="2200">
                <a:solidFill>
                  <a:srgbClr val="FFFFFF"/>
                </a:solidFill>
                <a:latin typeface="Arial"/>
              </a:defRPr>
            </a:pPr>
            <a:r>
              <a:t>Autonomous, Event-Driven AI Data Analysis via Serverless Containers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08090"/>
                </a:solidFill>
                <a:latin typeface="Arial"/>
              </a:defRPr>
            </a:pPr>
            <a:r>
              <a:t>Stack: Python 3.12  |  Docker  |  Amazon Bedrock  |  Strands Agents SDK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0B132B"/>
                </a:solidFill>
                <a:latin typeface="Arial"/>
              </a:defRPr>
            </a:pPr>
            <a:r>
              <a:t>The 250MB Serverless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1C2541"/>
                </a:solidFill>
              </a:defRPr>
            </a:pPr>
            <a:r>
              <a:t>Traditional Lambda Layer Limits</a:t>
            </a:r>
          </a:p>
          <a:p>
            <a:pPr>
              <a:spcBef>
                <a:spcPts val="1400"/>
              </a:spcBef>
              <a:defRPr sz="1600">
                <a:solidFill>
                  <a:srgbClr val="1C2541"/>
                </a:solidFill>
              </a:defRPr>
            </a:pPr>
            <a:r>
              <a:t>• AWS enforces a strict 250 MB Maximum Unzipped ceiling across functions and layers.</a:t>
            </a:r>
          </a:p>
          <a:p>
            <a:pPr>
              <a:spcBef>
                <a:spcPts val="1400"/>
              </a:spcBef>
              <a:defRPr sz="1600">
                <a:solidFill>
                  <a:srgbClr val="1C2541"/>
                </a:solidFill>
              </a:defRPr>
            </a:pPr>
            <a:r>
              <a:t>• Attempting to zip heavy frameworks results in deployment blocks and infrastructure failure.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D00000"/>
                </a:solidFill>
              </a:defRPr>
            </a:pPr>
            <a:r>
              <a:t>Our Data Analytics Requirements</a:t>
            </a:r>
          </a:p>
          <a:p>
            <a:pPr>
              <a:spcBef>
                <a:spcPts val="1000"/>
              </a:spcBef>
              <a:defRPr sz="1600">
                <a:solidFill>
                  <a:srgbClr val="1C2541"/>
                </a:solidFill>
              </a:defRPr>
            </a:pPr>
            <a:r>
              <a:t>▪ NumPy Engine: ~90 MB Unzipped footprint</a:t>
            </a:r>
          </a:p>
          <a:p>
            <a:pPr>
              <a:spcBef>
                <a:spcPts val="1000"/>
              </a:spcBef>
              <a:defRPr sz="1600">
                <a:solidFill>
                  <a:srgbClr val="1C2541"/>
                </a:solidFill>
              </a:defRPr>
            </a:pPr>
            <a:r>
              <a:t>▪ Matplotlib Visuals: ~80 MB Unzipped footprint</a:t>
            </a:r>
          </a:p>
          <a:p>
            <a:pPr>
              <a:spcBef>
                <a:spcPts val="1000"/>
              </a:spcBef>
              <a:defRPr sz="1600">
                <a:solidFill>
                  <a:srgbClr val="1C2541"/>
                </a:solidFill>
              </a:defRPr>
            </a:pPr>
            <a:r>
              <a:t>▪ Pandas Engine: ~100 MB Unzipped footprint</a:t>
            </a:r>
          </a:p>
          <a:p>
            <a:pPr>
              <a:spcBef>
                <a:spcPts val="1000"/>
              </a:spcBef>
              <a:defRPr sz="1600">
                <a:solidFill>
                  <a:srgbClr val="1C2541"/>
                </a:solidFill>
              </a:defRPr>
            </a:pPr>
            <a:r>
              <a:t>▪ Strands Agents SDK: ~40 MB Unzipped footprint</a:t>
            </a:r>
          </a:p>
          <a:p>
            <a:pPr>
              <a:spcBef>
                <a:spcPts val="1000"/>
              </a:spcBef>
              <a:defRPr sz="1600" b="1">
                <a:solidFill>
                  <a:srgbClr val="1C2541"/>
                </a:solidFill>
              </a:defRPr>
            </a:pPr>
            <a:r>
              <a:t>❌ Total Structural Size: ~310 MB (CRASHES DEPLOYMENT)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0B132B"/>
                </a:solidFill>
                <a:latin typeface="Arial"/>
              </a:defRPr>
            </a:pPr>
            <a:r>
              <a:t>Containerized Serverless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B132B"/>
                </a:solidFill>
              </a:defRPr>
            </a:pPr>
            <a:r>
              <a:t>🚀 OCI-Compliant Docker Build</a:t>
            </a:r>
          </a:p>
          <a:p>
            <a:pPr>
              <a:spcAft>
                <a:spcPts val="2000"/>
              </a:spcAft>
              <a:defRPr sz="1600"/>
            </a:pPr>
            <a:r>
              <a:t>Migrated packaging pipeline into containers managed via Amazon ECR, expanding serverless capacity limits from 250MB to a massive 10 GB limit.</a:t>
            </a:r>
          </a:p>
          <a:p>
            <a:pPr>
              <a:defRPr b="1" sz="2000">
                <a:solidFill>
                  <a:srgbClr val="0B132B"/>
                </a:solidFill>
              </a:defRPr>
            </a:pPr>
            <a:r>
              <a:t>🔒 Granular IAM Security Tuning</a:t>
            </a:r>
          </a:p>
          <a:p>
            <a:pPr>
              <a:spcAft>
                <a:spcPts val="2000"/>
              </a:spcAft>
              <a:defRPr sz="1600"/>
            </a:pPr>
            <a:r>
              <a:t>Engineered lease-privileged identity-based policies specifically optimized to secure live streaming AI models via ConverseStream workflows.</a:t>
            </a:r>
          </a:p>
          <a:p>
            <a:pPr>
              <a:defRPr b="1" sz="2000">
                <a:solidFill>
                  <a:srgbClr val="0B132B"/>
                </a:solidFill>
              </a:defRPr>
            </a:pPr>
            <a:r>
              <a:t>⚡ Compute Resource Optimization</a:t>
            </a:r>
          </a:p>
          <a:p>
            <a:pPr>
              <a:defRPr sz="1600"/>
            </a:pPr>
            <a:r>
              <a:t>Allocated memory dynamically to 1024MB to grant disproportionate CPU power during container cold-starts, completely neutralizing initialization timeouts.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0B132B"/>
                </a:solidFill>
                <a:latin typeface="Arial"/>
              </a:defRPr>
            </a:pPr>
            <a:r>
              <a:t>Real-Time Telemetry Interface (Demo)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400">
                <a:solidFill>
                  <a:srgbClr val="00B4D8"/>
                </a:solidFill>
              </a:defRPr>
            </a:pPr>
            <a:r>
              <a:t>[ SWITCH SCREEN SHARE TO WORKING BROWSER WINDOW ]</a:t>
            </a:r>
          </a:p>
          <a:p>
            <a:br/>
            <a:pPr algn="l">
              <a:defRPr sz="1800">
                <a:solidFill>
                  <a:srgbClr val="1C2541"/>
                </a:solidFill>
              </a:defRPr>
            </a:pPr>
            <a:r>
              <a:t>Demonstrating the Side-by-Side Streamlit Dashboard Layout:</a:t>
            </a:r>
            <a:br/>
            <a:r>
              <a:t>• Left Panel: Textual AgenticBI Insight metrics and operational action steps.</a:t>
            </a:r>
            <a:br/>
            <a:r>
              <a:t>• Right Panel: The automated Matplotlib visualization graphic rendering real-time data spikes.</a:t>
            </a:r>
            <a:br/>
            <a:r>
              <a:t>• Scope Check: Wholly domain-agnostic interface handling diverse telemetry file inputs dynamically.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00B4D8"/>
                </a:solidFill>
                <a:latin typeface="Arial"/>
              </a:defRPr>
            </a:pPr>
            <a:r>
              <a:t>The Future of Automated Auditing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b="1" sz="1800">
                <a:solidFill>
                  <a:srgbClr val="00B4D8"/>
                </a:solidFill>
              </a:defRPr>
            </a:pPr>
            <a:r>
              <a:t>✔ Unbounded Operational Scaling: </a:t>
            </a:r>
            <a:r>
              <a:rPr b="0">
                <a:solidFill>
                  <a:srgbClr val="FFFFFF"/>
                </a:solidFill>
              </a:rPr>
              <a:t>Zero schema dependency allows deployment across any corporate data vertical instantly.</a:t>
            </a:r>
          </a:p>
          <a:p>
            <a:pPr>
              <a:spcBef>
                <a:spcPts val="1400"/>
              </a:spcBef>
              <a:defRPr b="1" sz="1800">
                <a:solidFill>
                  <a:srgbClr val="00B4D8"/>
                </a:solidFill>
              </a:defRPr>
            </a:pPr>
            <a:r>
              <a:t>✔ High Cloud Cost Efficiency: </a:t>
            </a:r>
            <a:r>
              <a:rPr b="0">
                <a:solidFill>
                  <a:srgbClr val="FFFFFF"/>
                </a:solidFill>
              </a:rPr>
              <a:t>100% serverless infrastructure—charges accrue strictly during active file processing execution intervals.</a:t>
            </a:r>
          </a:p>
          <a:p>
            <a:pPr>
              <a:spcBef>
                <a:spcPts val="1400"/>
              </a:spcBef>
              <a:defRPr b="1" sz="1800">
                <a:solidFill>
                  <a:srgbClr val="00B4D8"/>
                </a:solidFill>
              </a:defRPr>
            </a:pPr>
            <a:r>
              <a:t>✔ Infrastructure-as-Code Readiness: </a:t>
            </a:r>
            <a:r>
              <a:rPr b="0">
                <a:solidFill>
                  <a:srgbClr val="FFFFFF"/>
                </a:solidFill>
              </a:rPr>
              <a:t>Packaging pipeline definitions directly into repeatable Terraform scripts to automate 60-second account replication loops.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